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0" r:id="rId4"/>
    <p:sldId id="259" r:id="rId5"/>
    <p:sldId id="258" r:id="rId6"/>
    <p:sldId id="26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1" userDrawn="1">
          <p15:clr>
            <a:srgbClr val="A4A3A4"/>
          </p15:clr>
        </p15:guide>
        <p15:guide id="2" pos="3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1"/>
        <p:guide pos="389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73.xml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78.xml"/><Relationship Id="rId13" Type="http://schemas.openxmlformats.org/officeDocument/2006/relationships/tags" Target="../tags/tag77.xml"/><Relationship Id="rId12" Type="http://schemas.openxmlformats.org/officeDocument/2006/relationships/tags" Target="../tags/tag76.xml"/><Relationship Id="rId11" Type="http://schemas.openxmlformats.org/officeDocument/2006/relationships/tags" Target="../tags/tag75.xml"/><Relationship Id="rId10" Type="http://schemas.openxmlformats.org/officeDocument/2006/relationships/tags" Target="../tags/tag74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89305" y="586740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SystemClock</a:t>
            </a:r>
            <a:r>
              <a:rPr lang="zh-CN" altLang="en-US"/>
              <a:t>初始化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789305" y="3180715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LED</a:t>
            </a:r>
            <a:r>
              <a:rPr lang="zh-CN" altLang="en-US"/>
              <a:t>、</a:t>
            </a:r>
            <a:r>
              <a:rPr lang="en-US" altLang="zh-CN"/>
              <a:t>CAN </a:t>
            </a:r>
            <a:r>
              <a:rPr lang="zh-CN" altLang="en-US"/>
              <a:t>初始化</a:t>
            </a: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789305" y="1884045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25KHz Timer8 </a:t>
            </a:r>
            <a:r>
              <a:rPr lang="zh-CN" altLang="en-US"/>
              <a:t>初始化</a:t>
            </a: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789305" y="5395595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C</a:t>
            </a:r>
            <a:r>
              <a:rPr lang="en-US" altLang="zh-CN"/>
              <a:t>ontroller </a:t>
            </a:r>
            <a:r>
              <a:rPr lang="zh-CN" altLang="en-US"/>
              <a:t>初始化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789305" y="4288155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SysTick </a:t>
            </a:r>
            <a:r>
              <a:rPr lang="zh-CN" altLang="en-US"/>
              <a:t>初始化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018405" y="586740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 Multimeter(ADC) </a:t>
            </a:r>
            <a:r>
              <a:rPr lang="zh-CN" altLang="en-US"/>
              <a:t>初始化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993005" y="1884045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 HRTIM </a:t>
            </a:r>
            <a:r>
              <a:rPr lang="zh-CN" altLang="en-US"/>
              <a:t>初始化</a:t>
            </a:r>
            <a:endParaRPr lang="zh-CN" altLang="en-US"/>
          </a:p>
          <a:p>
            <a:pPr algn="ctr"/>
            <a:r>
              <a:rPr lang="zh-CN" altLang="en-US"/>
              <a:t>输出通道</a:t>
            </a:r>
            <a:r>
              <a:rPr lang="zh-CN" altLang="en-US"/>
              <a:t>关闭</a:t>
            </a:r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4994275" y="3140075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 FSM </a:t>
            </a:r>
            <a:r>
              <a:rPr lang="zh-CN" altLang="en-US"/>
              <a:t>初始化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987925" y="4342765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 25KHz Timer8 </a:t>
            </a:r>
            <a:r>
              <a:rPr lang="zh-CN" altLang="en-US"/>
              <a:t>使能</a:t>
            </a:r>
            <a:endParaRPr lang="zh-CN" altLang="en-US"/>
          </a:p>
        </p:txBody>
      </p:sp>
      <p:cxnSp>
        <p:nvCxnSpPr>
          <p:cNvPr id="15" name="直接箭头连接符 14"/>
          <p:cNvCxnSpPr>
            <a:stCxn id="4" idx="2"/>
            <a:endCxn id="6" idx="0"/>
          </p:cNvCxnSpPr>
          <p:nvPr/>
        </p:nvCxnSpPr>
        <p:spPr>
          <a:xfrm>
            <a:off x="2240280" y="1358900"/>
            <a:ext cx="0" cy="5251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6" idx="2"/>
            <a:endCxn id="5" idx="0"/>
          </p:cNvCxnSpPr>
          <p:nvPr/>
        </p:nvCxnSpPr>
        <p:spPr>
          <a:xfrm>
            <a:off x="2240280" y="2656205"/>
            <a:ext cx="0" cy="5245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5" idx="2"/>
            <a:endCxn id="8" idx="0"/>
          </p:cNvCxnSpPr>
          <p:nvPr/>
        </p:nvCxnSpPr>
        <p:spPr>
          <a:xfrm>
            <a:off x="2240280" y="3952875"/>
            <a:ext cx="0" cy="3352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8" idx="2"/>
            <a:endCxn id="7" idx="0"/>
          </p:cNvCxnSpPr>
          <p:nvPr/>
        </p:nvCxnSpPr>
        <p:spPr>
          <a:xfrm>
            <a:off x="2240280" y="5060315"/>
            <a:ext cx="0" cy="3352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肘形连接符 18"/>
          <p:cNvCxnSpPr>
            <a:stCxn id="7" idx="3"/>
            <a:endCxn id="9" idx="1"/>
          </p:cNvCxnSpPr>
          <p:nvPr/>
        </p:nvCxnSpPr>
        <p:spPr>
          <a:xfrm flipV="1">
            <a:off x="3691255" y="972820"/>
            <a:ext cx="1327150" cy="480885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6469380" y="1358900"/>
            <a:ext cx="0" cy="5251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11" idx="2"/>
            <a:endCxn id="12" idx="0"/>
          </p:cNvCxnSpPr>
          <p:nvPr/>
        </p:nvCxnSpPr>
        <p:spPr>
          <a:xfrm>
            <a:off x="6443980" y="2656205"/>
            <a:ext cx="1270" cy="4838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6434455" y="3927475"/>
            <a:ext cx="6985" cy="4152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4987925" y="5391150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 Controller</a:t>
            </a:r>
            <a:r>
              <a:rPr lang="zh-CN" altLang="en-US"/>
              <a:t>控制常量</a:t>
            </a:r>
            <a:r>
              <a:rPr lang="zh-CN" altLang="en-US"/>
              <a:t>计算</a:t>
            </a:r>
            <a:endParaRPr lang="zh-CN" altLang="en-US"/>
          </a:p>
        </p:txBody>
      </p:sp>
      <p:cxnSp>
        <p:nvCxnSpPr>
          <p:cNvPr id="24" name="直接箭头连接符 23"/>
          <p:cNvCxnSpPr>
            <a:stCxn id="13" idx="2"/>
          </p:cNvCxnSpPr>
          <p:nvPr/>
        </p:nvCxnSpPr>
        <p:spPr>
          <a:xfrm>
            <a:off x="6438900" y="5114925"/>
            <a:ext cx="6350" cy="3352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1202690" y="658495"/>
            <a:ext cx="1847850" cy="8216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HRTIM</a:t>
            </a:r>
            <a:endParaRPr lang="en-US" altLang="zh-CN"/>
          </a:p>
        </p:txBody>
      </p:sp>
      <p:sp>
        <p:nvSpPr>
          <p:cNvPr id="2" name="矩形 1"/>
          <p:cNvSpPr/>
          <p:nvPr/>
        </p:nvSpPr>
        <p:spPr>
          <a:xfrm>
            <a:off x="1202690" y="2088515"/>
            <a:ext cx="1847850" cy="8216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/>
              <a:t>ADC1</a:t>
            </a:r>
            <a:endParaRPr lang="en-US" altLang="zh-CN"/>
          </a:p>
        </p:txBody>
      </p:sp>
      <p:sp>
        <p:nvSpPr>
          <p:cNvPr id="3" name="矩形 2"/>
          <p:cNvSpPr/>
          <p:nvPr/>
        </p:nvSpPr>
        <p:spPr>
          <a:xfrm>
            <a:off x="1202690" y="3648075"/>
            <a:ext cx="1847850" cy="8216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/>
              <a:t>DMA1 TC</a:t>
            </a:r>
            <a:r>
              <a:rPr lang="zh-CN" altLang="en-US"/>
              <a:t>中断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202690" y="5207635"/>
            <a:ext cx="1847850" cy="8216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>
                <a:sym typeface="+mn-ea"/>
              </a:rPr>
              <a:t> Multimeter</a:t>
            </a:r>
            <a:r>
              <a:rPr lang="zh-CN" altLang="en-US">
                <a:sym typeface="+mn-ea"/>
              </a:rPr>
              <a:t>更新</a:t>
            </a:r>
            <a:endParaRPr lang="zh-CN" altLang="en-US">
              <a:sym typeface="+mn-ea"/>
            </a:endParaRPr>
          </a:p>
        </p:txBody>
      </p:sp>
      <p:cxnSp>
        <p:nvCxnSpPr>
          <p:cNvPr id="6" name="直接箭头连接符 5"/>
          <p:cNvCxnSpPr>
            <a:stCxn id="4" idx="2"/>
            <a:endCxn id="2" idx="0"/>
          </p:cNvCxnSpPr>
          <p:nvPr/>
        </p:nvCxnSpPr>
        <p:spPr>
          <a:xfrm>
            <a:off x="2126615" y="1480185"/>
            <a:ext cx="0" cy="6083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" name="直接箭头连接符 6"/>
          <p:cNvCxnSpPr>
            <a:stCxn id="2" idx="2"/>
            <a:endCxn id="3" idx="0"/>
          </p:cNvCxnSpPr>
          <p:nvPr/>
        </p:nvCxnSpPr>
        <p:spPr>
          <a:xfrm>
            <a:off x="2126615" y="2910205"/>
            <a:ext cx="0" cy="7378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>
            <a:stCxn id="3" idx="2"/>
            <a:endCxn id="5" idx="0"/>
          </p:cNvCxnSpPr>
          <p:nvPr/>
        </p:nvCxnSpPr>
        <p:spPr>
          <a:xfrm>
            <a:off x="2126615" y="4469765"/>
            <a:ext cx="0" cy="7378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4257675" y="2088515"/>
            <a:ext cx="1847850" cy="8216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/>
              <a:t>Controller </a:t>
            </a:r>
            <a:r>
              <a:rPr lang="zh-CN" altLang="en-US"/>
              <a:t>更新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257675" y="658495"/>
            <a:ext cx="1847850" cy="8216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Timer 8</a:t>
            </a:r>
            <a:endParaRPr lang="en-US" altLang="zh-CN"/>
          </a:p>
          <a:p>
            <a:pPr algn="ctr"/>
            <a:r>
              <a:rPr lang="en-US" altLang="zh-CN"/>
              <a:t> Update</a:t>
            </a:r>
            <a:r>
              <a:rPr lang="zh-CN" altLang="en-US"/>
              <a:t>中断</a:t>
            </a:r>
            <a:endParaRPr lang="zh-CN" altLang="en-US"/>
          </a:p>
        </p:txBody>
      </p:sp>
      <p:cxnSp>
        <p:nvCxnSpPr>
          <p:cNvPr id="11" name="直接箭头连接符 10"/>
          <p:cNvCxnSpPr>
            <a:stCxn id="10" idx="2"/>
            <a:endCxn id="9" idx="0"/>
          </p:cNvCxnSpPr>
          <p:nvPr/>
        </p:nvCxnSpPr>
        <p:spPr>
          <a:xfrm>
            <a:off x="5181600" y="1480185"/>
            <a:ext cx="0" cy="6083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257675" y="3648075"/>
            <a:ext cx="1847850" cy="8216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SysTick </a:t>
            </a:r>
            <a:r>
              <a:rPr lang="zh-CN" altLang="en-US"/>
              <a:t>中断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257675" y="5179695"/>
            <a:ext cx="1847850" cy="8216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板间通讯</a:t>
            </a:r>
            <a:r>
              <a:rPr lang="zh-CN" altLang="en-US"/>
              <a:t>发送</a:t>
            </a:r>
            <a:endParaRPr lang="zh-CN" altLang="en-US"/>
          </a:p>
        </p:txBody>
      </p:sp>
      <p:cxnSp>
        <p:nvCxnSpPr>
          <p:cNvPr id="14" name="直接箭头连接符 13"/>
          <p:cNvCxnSpPr>
            <a:stCxn id="12" idx="2"/>
            <a:endCxn id="13" idx="0"/>
          </p:cNvCxnSpPr>
          <p:nvPr/>
        </p:nvCxnSpPr>
        <p:spPr>
          <a:xfrm>
            <a:off x="5181600" y="4469765"/>
            <a:ext cx="0" cy="7099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矩形 14"/>
          <p:cNvSpPr/>
          <p:nvPr/>
        </p:nvSpPr>
        <p:spPr>
          <a:xfrm>
            <a:off x="7312660" y="658495"/>
            <a:ext cx="1847850" cy="8216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CAN1 </a:t>
            </a:r>
            <a:r>
              <a:rPr lang="zh-CN" altLang="en-US"/>
              <a:t>接收中断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312660" y="2088515"/>
            <a:ext cx="1847850" cy="8216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板间通讯</a:t>
            </a:r>
            <a:r>
              <a:rPr lang="zh-CN" altLang="en-US">
                <a:sym typeface="+mn-ea"/>
              </a:rPr>
              <a:t>更新</a:t>
            </a:r>
            <a:endParaRPr lang="zh-CN" altLang="en-US">
              <a:sym typeface="+mn-ea"/>
            </a:endParaRPr>
          </a:p>
        </p:txBody>
      </p:sp>
      <p:cxnSp>
        <p:nvCxnSpPr>
          <p:cNvPr id="17" name="直接箭头连接符 16"/>
          <p:cNvCxnSpPr>
            <a:stCxn id="15" idx="2"/>
            <a:endCxn id="16" idx="0"/>
          </p:cNvCxnSpPr>
          <p:nvPr/>
        </p:nvCxnSpPr>
        <p:spPr>
          <a:xfrm>
            <a:off x="8236585" y="1480185"/>
            <a:ext cx="0" cy="60833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702945" y="339090"/>
            <a:ext cx="2501900" cy="8216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更新输入电压并</a:t>
            </a:r>
            <a:r>
              <a:rPr lang="zh-CN" altLang="en-US"/>
              <a:t>限幅</a:t>
            </a:r>
            <a:endParaRPr lang="zh-CN" altLang="en-US"/>
          </a:p>
        </p:txBody>
      </p:sp>
      <p:cxnSp>
        <p:nvCxnSpPr>
          <p:cNvPr id="6" name="直接箭头连接符 5"/>
          <p:cNvCxnSpPr>
            <a:stCxn id="4" idx="2"/>
            <a:endCxn id="19" idx="0"/>
          </p:cNvCxnSpPr>
          <p:nvPr>
            <p:custDataLst>
              <p:tags r:id="rId1"/>
            </p:custDataLst>
          </p:nvPr>
        </p:nvCxnSpPr>
        <p:spPr>
          <a:xfrm>
            <a:off x="1953895" y="1160780"/>
            <a:ext cx="0" cy="7232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矩形 18"/>
          <p:cNvSpPr/>
          <p:nvPr>
            <p:custDataLst>
              <p:tags r:id="rId2"/>
            </p:custDataLst>
          </p:nvPr>
        </p:nvSpPr>
        <p:spPr>
          <a:xfrm>
            <a:off x="702945" y="1884045"/>
            <a:ext cx="2501900" cy="8216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根据最高最低</a:t>
            </a:r>
            <a:r>
              <a:rPr lang="zh-CN" altLang="en-US"/>
              <a:t>电压</a:t>
            </a:r>
            <a:endParaRPr lang="zh-CN" altLang="en-US"/>
          </a:p>
          <a:p>
            <a:pPr algn="ctr"/>
            <a:r>
              <a:rPr lang="zh-CN" altLang="en-US"/>
              <a:t>计算占空比</a:t>
            </a:r>
            <a:r>
              <a:rPr lang="zh-CN" altLang="en-US"/>
              <a:t>相对上下</a:t>
            </a:r>
            <a:r>
              <a:rPr lang="zh-CN" altLang="en-US"/>
              <a:t>限</a:t>
            </a:r>
            <a:endParaRPr lang="zh-CN" altLang="en-US"/>
          </a:p>
        </p:txBody>
      </p:sp>
      <p:sp>
        <p:nvSpPr>
          <p:cNvPr id="20" name="矩形 19"/>
          <p:cNvSpPr/>
          <p:nvPr>
            <p:custDataLst>
              <p:tags r:id="rId3"/>
            </p:custDataLst>
          </p:nvPr>
        </p:nvSpPr>
        <p:spPr>
          <a:xfrm>
            <a:off x="702945" y="3429000"/>
            <a:ext cx="2501900" cy="8216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输入端掉电</a:t>
            </a:r>
            <a:r>
              <a:rPr lang="zh-CN" altLang="en-US"/>
              <a:t>检测</a:t>
            </a:r>
            <a:endParaRPr lang="zh-CN" altLang="en-US"/>
          </a:p>
        </p:txBody>
      </p:sp>
      <p:cxnSp>
        <p:nvCxnSpPr>
          <p:cNvPr id="22" name="直接箭头连接符 21"/>
          <p:cNvCxnSpPr>
            <a:stCxn id="19" idx="2"/>
            <a:endCxn id="20" idx="0"/>
          </p:cNvCxnSpPr>
          <p:nvPr>
            <p:custDataLst>
              <p:tags r:id="rId4"/>
            </p:custDataLst>
          </p:nvPr>
        </p:nvCxnSpPr>
        <p:spPr>
          <a:xfrm>
            <a:off x="1953895" y="2705735"/>
            <a:ext cx="0" cy="7232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矩形 22"/>
          <p:cNvSpPr/>
          <p:nvPr>
            <p:custDataLst>
              <p:tags r:id="rId5"/>
            </p:custDataLst>
          </p:nvPr>
        </p:nvSpPr>
        <p:spPr>
          <a:xfrm>
            <a:off x="702945" y="4973955"/>
            <a:ext cx="2501900" cy="8216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更新输入功率并限</a:t>
            </a:r>
            <a:r>
              <a:rPr lang="zh-CN" altLang="en-US"/>
              <a:t>幅</a:t>
            </a:r>
            <a:endParaRPr lang="zh-CN" altLang="en-US"/>
          </a:p>
        </p:txBody>
      </p:sp>
      <p:cxnSp>
        <p:nvCxnSpPr>
          <p:cNvPr id="24" name="直接箭头连接符 23"/>
          <p:cNvCxnSpPr>
            <a:stCxn id="20" idx="2"/>
            <a:endCxn id="23" idx="0"/>
          </p:cNvCxnSpPr>
          <p:nvPr>
            <p:custDataLst>
              <p:tags r:id="rId6"/>
            </p:custDataLst>
          </p:nvPr>
        </p:nvCxnSpPr>
        <p:spPr>
          <a:xfrm>
            <a:off x="1953895" y="4250690"/>
            <a:ext cx="0" cy="7232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矩形 24"/>
          <p:cNvSpPr/>
          <p:nvPr>
            <p:custDataLst>
              <p:tags r:id="rId7"/>
            </p:custDataLst>
          </p:nvPr>
        </p:nvSpPr>
        <p:spPr>
          <a:xfrm>
            <a:off x="4707255" y="339090"/>
            <a:ext cx="2501900" cy="8216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FSM</a:t>
            </a:r>
            <a:r>
              <a:rPr lang="zh-CN" altLang="en-US"/>
              <a:t>更新</a:t>
            </a:r>
            <a:endParaRPr lang="zh-CN" altLang="en-US"/>
          </a:p>
          <a:p>
            <a:pPr algn="ctr"/>
            <a:r>
              <a:rPr lang="zh-CN" altLang="en-US"/>
              <a:t>计算</a:t>
            </a:r>
            <a:r>
              <a:rPr lang="zh-CN" altLang="en-US"/>
              <a:t>占空比</a:t>
            </a:r>
            <a:endParaRPr lang="zh-CN" altLang="en-US"/>
          </a:p>
        </p:txBody>
      </p:sp>
      <p:cxnSp>
        <p:nvCxnSpPr>
          <p:cNvPr id="26" name="直接箭头连接符 25"/>
          <p:cNvCxnSpPr>
            <a:stCxn id="25" idx="2"/>
            <a:endCxn id="27" idx="0"/>
          </p:cNvCxnSpPr>
          <p:nvPr>
            <p:custDataLst>
              <p:tags r:id="rId8"/>
            </p:custDataLst>
          </p:nvPr>
        </p:nvCxnSpPr>
        <p:spPr>
          <a:xfrm>
            <a:off x="5958205" y="1160780"/>
            <a:ext cx="0" cy="7924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 26"/>
          <p:cNvSpPr/>
          <p:nvPr>
            <p:custDataLst>
              <p:tags r:id="rId9"/>
            </p:custDataLst>
          </p:nvPr>
        </p:nvSpPr>
        <p:spPr>
          <a:xfrm>
            <a:off x="4707255" y="1953260"/>
            <a:ext cx="2501900" cy="8216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占空比相对上下限</a:t>
            </a:r>
            <a:r>
              <a:rPr lang="zh-CN" altLang="en-US"/>
              <a:t>限幅</a:t>
            </a:r>
            <a:endParaRPr lang="zh-CN" altLang="en-US"/>
          </a:p>
        </p:txBody>
      </p:sp>
      <p:sp>
        <p:nvSpPr>
          <p:cNvPr id="28" name="矩形 27"/>
          <p:cNvSpPr/>
          <p:nvPr>
            <p:custDataLst>
              <p:tags r:id="rId10"/>
            </p:custDataLst>
          </p:nvPr>
        </p:nvSpPr>
        <p:spPr>
          <a:xfrm>
            <a:off x="4707255" y="3429000"/>
            <a:ext cx="2501900" cy="8216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占空比</a:t>
            </a:r>
            <a:r>
              <a:rPr lang="zh-CN" altLang="en-US"/>
              <a:t>差值限幅</a:t>
            </a:r>
            <a:endParaRPr lang="zh-CN" altLang="en-US"/>
          </a:p>
        </p:txBody>
      </p:sp>
      <p:cxnSp>
        <p:nvCxnSpPr>
          <p:cNvPr id="29" name="直接箭头连接符 28"/>
          <p:cNvCxnSpPr>
            <a:stCxn id="27" idx="2"/>
            <a:endCxn id="28" idx="0"/>
          </p:cNvCxnSpPr>
          <p:nvPr>
            <p:custDataLst>
              <p:tags r:id="rId11"/>
            </p:custDataLst>
          </p:nvPr>
        </p:nvCxnSpPr>
        <p:spPr>
          <a:xfrm>
            <a:off x="5958205" y="2774950"/>
            <a:ext cx="0" cy="6540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矩形 29"/>
          <p:cNvSpPr/>
          <p:nvPr>
            <p:custDataLst>
              <p:tags r:id="rId12"/>
            </p:custDataLst>
          </p:nvPr>
        </p:nvSpPr>
        <p:spPr>
          <a:xfrm>
            <a:off x="4707255" y="4904740"/>
            <a:ext cx="2501900" cy="82169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占空比绝</a:t>
            </a:r>
            <a:r>
              <a:rPr lang="zh-CN" altLang="en-US">
                <a:sym typeface="+mn-ea"/>
              </a:rPr>
              <a:t>对上下限</a:t>
            </a:r>
            <a:r>
              <a:rPr lang="zh-CN" altLang="en-US"/>
              <a:t>限幅</a:t>
            </a:r>
            <a:endParaRPr lang="zh-CN" altLang="en-US"/>
          </a:p>
        </p:txBody>
      </p:sp>
      <p:cxnSp>
        <p:nvCxnSpPr>
          <p:cNvPr id="31" name="直接箭头连接符 30"/>
          <p:cNvCxnSpPr>
            <a:stCxn id="28" idx="2"/>
            <a:endCxn id="30" idx="0"/>
          </p:cNvCxnSpPr>
          <p:nvPr>
            <p:custDataLst>
              <p:tags r:id="rId13"/>
            </p:custDataLst>
          </p:nvPr>
        </p:nvCxnSpPr>
        <p:spPr>
          <a:xfrm>
            <a:off x="5958205" y="4250690"/>
            <a:ext cx="0" cy="6540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stCxn id="23" idx="2"/>
            <a:endCxn id="25" idx="1"/>
          </p:cNvCxnSpPr>
          <p:nvPr/>
        </p:nvCxnSpPr>
        <p:spPr>
          <a:xfrm rot="5400000" flipH="1" flipV="1">
            <a:off x="807720" y="1896110"/>
            <a:ext cx="5045710" cy="2753360"/>
          </a:xfrm>
          <a:prstGeom prst="bentConnector4">
            <a:avLst>
              <a:gd name="adj1" fmla="val -4719"/>
              <a:gd name="adj2" fmla="val 7271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505460" y="456565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更新电容</a:t>
            </a:r>
            <a:r>
              <a:rPr lang="zh-CN" altLang="en-US"/>
              <a:t>端电压并限</a:t>
            </a:r>
            <a:r>
              <a:rPr lang="zh-CN" altLang="en-US"/>
              <a:t>幅</a:t>
            </a:r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05460" y="1800225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占空比</a:t>
            </a:r>
            <a:r>
              <a:rPr lang="zh-CN" altLang="en-US"/>
              <a:t>直接计算</a:t>
            </a: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505460" y="3181985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Busrt Mode</a:t>
            </a:r>
            <a:r>
              <a:rPr lang="zh-CN" altLang="en-US"/>
              <a:t>开启</a:t>
            </a:r>
            <a:endParaRPr lang="zh-CN" altLang="en-US"/>
          </a:p>
          <a:p>
            <a:pPr algn="ctr"/>
            <a:r>
              <a:rPr lang="zh-CN" altLang="en-US"/>
              <a:t>输出通道</a:t>
            </a:r>
            <a:r>
              <a:rPr lang="zh-CN" altLang="en-US"/>
              <a:t>开启</a:t>
            </a:r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05460" y="4627245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切换恒功率</a:t>
            </a:r>
            <a:r>
              <a:rPr lang="zh-CN" altLang="en-US"/>
              <a:t>模式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4546600" y="456565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更新输入功率和电容电流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4546600" y="1800225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正负过流检测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4546600" y="3177540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恒功率</a:t>
            </a:r>
            <a:r>
              <a:rPr lang="en-US" altLang="zh-CN"/>
              <a:t>PID</a:t>
            </a:r>
            <a:r>
              <a:rPr lang="zh-CN" altLang="en-US"/>
              <a:t>计算</a:t>
            </a: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546600" y="4627245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占空比</a:t>
            </a:r>
            <a:r>
              <a:rPr lang="zh-CN" altLang="en-US"/>
              <a:t>更新</a:t>
            </a:r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841740" y="418465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更新输入功率和电容电</a:t>
            </a:r>
            <a:r>
              <a:rPr lang="zh-CN" altLang="en-US"/>
              <a:t>压</a:t>
            </a: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8849360" y="1793875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正负电容</a:t>
            </a:r>
            <a:r>
              <a:rPr lang="zh-CN" altLang="en-US"/>
              <a:t>端超功率检测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7" name="矩形 16"/>
          <p:cNvSpPr/>
          <p:nvPr/>
        </p:nvSpPr>
        <p:spPr>
          <a:xfrm>
            <a:off x="8841740" y="3163570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恒流</a:t>
            </a:r>
            <a:r>
              <a:rPr lang="en-US" altLang="zh-CN"/>
              <a:t>PID</a:t>
            </a:r>
            <a:r>
              <a:rPr lang="zh-CN" altLang="en-US"/>
              <a:t>计算</a:t>
            </a:r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8829040" y="4624705"/>
            <a:ext cx="2901950" cy="772160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zh-CN" altLang="en-US"/>
              <a:t>占空比</a:t>
            </a:r>
            <a:r>
              <a:rPr lang="zh-CN" altLang="en-US"/>
              <a:t>更新</a:t>
            </a:r>
            <a:endParaRPr lang="zh-CN" altLang="en-US"/>
          </a:p>
        </p:txBody>
      </p:sp>
      <p:cxnSp>
        <p:nvCxnSpPr>
          <p:cNvPr id="19" name="直接箭头连接符 18"/>
          <p:cNvCxnSpPr>
            <a:stCxn id="4" idx="2"/>
            <a:endCxn id="5" idx="0"/>
          </p:cNvCxnSpPr>
          <p:nvPr/>
        </p:nvCxnSpPr>
        <p:spPr>
          <a:xfrm>
            <a:off x="1956435" y="1228725"/>
            <a:ext cx="0" cy="571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5" idx="2"/>
            <a:endCxn id="8" idx="0"/>
          </p:cNvCxnSpPr>
          <p:nvPr/>
        </p:nvCxnSpPr>
        <p:spPr>
          <a:xfrm>
            <a:off x="1956435" y="2572385"/>
            <a:ext cx="0" cy="6096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>
            <a:stCxn id="8" idx="2"/>
            <a:endCxn id="9" idx="0"/>
          </p:cNvCxnSpPr>
          <p:nvPr/>
        </p:nvCxnSpPr>
        <p:spPr>
          <a:xfrm>
            <a:off x="1956435" y="3954145"/>
            <a:ext cx="0" cy="6731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肘形连接符 21"/>
          <p:cNvCxnSpPr>
            <a:stCxn id="9" idx="3"/>
            <a:endCxn id="10" idx="1"/>
          </p:cNvCxnSpPr>
          <p:nvPr/>
        </p:nvCxnSpPr>
        <p:spPr>
          <a:xfrm flipV="1">
            <a:off x="3407410" y="842645"/>
            <a:ext cx="1139190" cy="4170680"/>
          </a:xfrm>
          <a:prstGeom prst="bentConnector3">
            <a:avLst>
              <a:gd name="adj1" fmla="val 29096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10" idx="2"/>
            <a:endCxn id="11" idx="0"/>
          </p:cNvCxnSpPr>
          <p:nvPr/>
        </p:nvCxnSpPr>
        <p:spPr>
          <a:xfrm>
            <a:off x="5997575" y="1228725"/>
            <a:ext cx="0" cy="5715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11" idx="2"/>
            <a:endCxn id="13" idx="0"/>
          </p:cNvCxnSpPr>
          <p:nvPr/>
        </p:nvCxnSpPr>
        <p:spPr>
          <a:xfrm>
            <a:off x="5997575" y="2572385"/>
            <a:ext cx="0" cy="6051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13" idx="2"/>
            <a:endCxn id="14" idx="0"/>
          </p:cNvCxnSpPr>
          <p:nvPr/>
        </p:nvCxnSpPr>
        <p:spPr>
          <a:xfrm>
            <a:off x="5997575" y="3949700"/>
            <a:ext cx="0" cy="6775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肘形连接符 25"/>
          <p:cNvCxnSpPr>
            <a:stCxn id="14" idx="2"/>
            <a:endCxn id="10" idx="1"/>
          </p:cNvCxnSpPr>
          <p:nvPr/>
        </p:nvCxnSpPr>
        <p:spPr>
          <a:xfrm rot="5400000" flipH="1">
            <a:off x="2993390" y="2395220"/>
            <a:ext cx="4556760" cy="1450975"/>
          </a:xfrm>
          <a:prstGeom prst="bentConnector4">
            <a:avLst>
              <a:gd name="adj1" fmla="val -5219"/>
              <a:gd name="adj2" fmla="val 1328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11" idx="3"/>
            <a:endCxn id="15" idx="1"/>
          </p:cNvCxnSpPr>
          <p:nvPr/>
        </p:nvCxnSpPr>
        <p:spPr>
          <a:xfrm flipV="1">
            <a:off x="7448550" y="804545"/>
            <a:ext cx="1393190" cy="13817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16" idx="1"/>
            <a:endCxn id="10" idx="3"/>
          </p:cNvCxnSpPr>
          <p:nvPr/>
        </p:nvCxnSpPr>
        <p:spPr>
          <a:xfrm flipH="1" flipV="1">
            <a:off x="7448550" y="842645"/>
            <a:ext cx="1400810" cy="13373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5" idx="2"/>
            <a:endCxn id="16" idx="0"/>
          </p:cNvCxnSpPr>
          <p:nvPr/>
        </p:nvCxnSpPr>
        <p:spPr>
          <a:xfrm>
            <a:off x="10292715" y="1190625"/>
            <a:ext cx="7620" cy="6032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16" idx="2"/>
            <a:endCxn id="17" idx="0"/>
          </p:cNvCxnSpPr>
          <p:nvPr/>
        </p:nvCxnSpPr>
        <p:spPr>
          <a:xfrm flipH="1">
            <a:off x="10292715" y="2566035"/>
            <a:ext cx="7620" cy="5975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7" idx="2"/>
            <a:endCxn id="18" idx="0"/>
          </p:cNvCxnSpPr>
          <p:nvPr/>
        </p:nvCxnSpPr>
        <p:spPr>
          <a:xfrm flipH="1">
            <a:off x="10280015" y="3935730"/>
            <a:ext cx="12700" cy="6889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肘形连接符 31"/>
          <p:cNvCxnSpPr>
            <a:stCxn id="18" idx="2"/>
            <a:endCxn id="15" idx="3"/>
          </p:cNvCxnSpPr>
          <p:nvPr/>
        </p:nvCxnSpPr>
        <p:spPr>
          <a:xfrm rot="5400000" flipH="1" flipV="1">
            <a:off x="8715375" y="2368550"/>
            <a:ext cx="4592320" cy="1463675"/>
          </a:xfrm>
          <a:prstGeom prst="bentConnector4">
            <a:avLst>
              <a:gd name="adj1" fmla="val -5178"/>
              <a:gd name="adj2" fmla="val 116247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肘形连接符 33"/>
          <p:cNvCxnSpPr>
            <a:stCxn id="5" idx="1"/>
            <a:endCxn id="4" idx="1"/>
          </p:cNvCxnSpPr>
          <p:nvPr/>
        </p:nvCxnSpPr>
        <p:spPr>
          <a:xfrm rot="10800000" flipH="1">
            <a:off x="505460" y="842645"/>
            <a:ext cx="3175" cy="1343660"/>
          </a:xfrm>
          <a:prstGeom prst="bentConnector3">
            <a:avLst>
              <a:gd name="adj1" fmla="val -7500000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cxnSp>
        <p:nvCxnSpPr>
          <p:cNvPr id="4" name="直接箭头连接符 3"/>
          <p:cNvCxnSpPr/>
          <p:nvPr/>
        </p:nvCxnSpPr>
        <p:spPr>
          <a:xfrm flipV="1">
            <a:off x="418465" y="4702175"/>
            <a:ext cx="11456670" cy="44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/>
          <p:nvPr/>
        </p:nvCxnSpPr>
        <p:spPr>
          <a:xfrm flipV="1">
            <a:off x="912495" y="1374775"/>
            <a:ext cx="8890" cy="33318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921385" y="3112135"/>
            <a:ext cx="566420" cy="5124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R1</a:t>
            </a:r>
            <a:endParaRPr lang="en-US" altLang="zh-CN"/>
          </a:p>
        </p:txBody>
      </p:sp>
      <p:sp>
        <p:nvSpPr>
          <p:cNvPr id="9" name="矩形 8"/>
          <p:cNvSpPr/>
          <p:nvPr/>
        </p:nvSpPr>
        <p:spPr>
          <a:xfrm>
            <a:off x="921385" y="1733550"/>
            <a:ext cx="4422140" cy="5124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R1 8</a:t>
            </a:r>
            <a:r>
              <a:rPr lang="zh-CN" altLang="en-US"/>
              <a:t>次过</a:t>
            </a:r>
            <a:r>
              <a:rPr lang="zh-CN" altLang="en-US"/>
              <a:t>采样</a:t>
            </a:r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1487805" y="3112135"/>
            <a:ext cx="566420" cy="5124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R2</a:t>
            </a:r>
            <a:endParaRPr lang="en-US" altLang="zh-CN"/>
          </a:p>
        </p:txBody>
      </p:sp>
      <p:sp>
        <p:nvSpPr>
          <p:cNvPr id="11" name="矩形 10"/>
          <p:cNvSpPr/>
          <p:nvPr/>
        </p:nvSpPr>
        <p:spPr>
          <a:xfrm>
            <a:off x="2054225" y="3112135"/>
            <a:ext cx="566420" cy="5124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R3</a:t>
            </a:r>
            <a:endParaRPr lang="en-US" altLang="zh-CN"/>
          </a:p>
        </p:txBody>
      </p:sp>
      <p:sp>
        <p:nvSpPr>
          <p:cNvPr id="12" name="矩形 11"/>
          <p:cNvSpPr/>
          <p:nvPr/>
        </p:nvSpPr>
        <p:spPr>
          <a:xfrm>
            <a:off x="2620645" y="3112135"/>
            <a:ext cx="566420" cy="5124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R4</a:t>
            </a:r>
            <a:endParaRPr lang="en-US" altLang="zh-CN"/>
          </a:p>
        </p:txBody>
      </p:sp>
      <p:sp>
        <p:nvSpPr>
          <p:cNvPr id="13" name="矩形 12"/>
          <p:cNvSpPr/>
          <p:nvPr/>
        </p:nvSpPr>
        <p:spPr>
          <a:xfrm>
            <a:off x="3187065" y="3112135"/>
            <a:ext cx="566420" cy="5124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R5</a:t>
            </a:r>
            <a:endParaRPr lang="en-US" altLang="zh-CN"/>
          </a:p>
        </p:txBody>
      </p:sp>
      <p:sp>
        <p:nvSpPr>
          <p:cNvPr id="14" name="矩形 13"/>
          <p:cNvSpPr/>
          <p:nvPr/>
        </p:nvSpPr>
        <p:spPr>
          <a:xfrm>
            <a:off x="5901055" y="1733550"/>
            <a:ext cx="4422140" cy="5124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R2 8</a:t>
            </a:r>
            <a:r>
              <a:rPr lang="zh-CN" altLang="en-US"/>
              <a:t>次过</a:t>
            </a:r>
            <a:r>
              <a:rPr lang="zh-CN" altLang="en-US"/>
              <a:t>采样</a:t>
            </a:r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 flipV="1">
            <a:off x="5892165" y="1370330"/>
            <a:ext cx="8890" cy="33318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10868025" y="1365885"/>
            <a:ext cx="8890" cy="333184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5894705" y="3112135"/>
            <a:ext cx="566420" cy="5124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R1</a:t>
            </a:r>
            <a:endParaRPr lang="en-US" altLang="zh-CN"/>
          </a:p>
        </p:txBody>
      </p:sp>
      <p:sp>
        <p:nvSpPr>
          <p:cNvPr id="18" name="矩形 17"/>
          <p:cNvSpPr/>
          <p:nvPr/>
        </p:nvSpPr>
        <p:spPr>
          <a:xfrm>
            <a:off x="6461125" y="3112135"/>
            <a:ext cx="566420" cy="5124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R2</a:t>
            </a:r>
            <a:endParaRPr lang="en-US" altLang="zh-CN"/>
          </a:p>
        </p:txBody>
      </p:sp>
      <p:sp>
        <p:nvSpPr>
          <p:cNvPr id="19" name="矩形 18"/>
          <p:cNvSpPr/>
          <p:nvPr/>
        </p:nvSpPr>
        <p:spPr>
          <a:xfrm>
            <a:off x="7027545" y="3112135"/>
            <a:ext cx="566420" cy="5124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R3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7593965" y="3112135"/>
            <a:ext cx="566420" cy="5124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R4</a:t>
            </a:r>
            <a:endParaRPr lang="en-US" altLang="zh-CN"/>
          </a:p>
        </p:txBody>
      </p:sp>
      <p:sp>
        <p:nvSpPr>
          <p:cNvPr id="21" name="矩形 20"/>
          <p:cNvSpPr/>
          <p:nvPr/>
        </p:nvSpPr>
        <p:spPr>
          <a:xfrm>
            <a:off x="8160385" y="3112135"/>
            <a:ext cx="566420" cy="512445"/>
          </a:xfrm>
          <a:prstGeom prst="rect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zh-CN"/>
              <a:t>R5</a:t>
            </a:r>
            <a:endParaRPr lang="en-US" altLang="zh-CN"/>
          </a:p>
        </p:txBody>
      </p:sp>
      <p:sp>
        <p:nvSpPr>
          <p:cNvPr id="23" name="文本框 22"/>
          <p:cNvSpPr txBox="1"/>
          <p:nvPr/>
        </p:nvSpPr>
        <p:spPr>
          <a:xfrm>
            <a:off x="921385" y="1344930"/>
            <a:ext cx="4197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discontinuous mode 1 rank</a:t>
            </a:r>
            <a:endParaRPr lang="en-US" altLang="zh-CN"/>
          </a:p>
        </p:txBody>
      </p:sp>
      <p:sp>
        <p:nvSpPr>
          <p:cNvPr id="24" name="文本框 23"/>
          <p:cNvSpPr txBox="1"/>
          <p:nvPr/>
        </p:nvSpPr>
        <p:spPr>
          <a:xfrm>
            <a:off x="921385" y="2743835"/>
            <a:ext cx="41973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scan mode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DIAGRAM_VIRTUALLY_FRAME" val="{&quot;height&quot;:263.3,&quot;left&quot;:55.35,&quot;top&quot;:91.4,&quot;width&quot;:324.25}"/>
</p:tagLst>
</file>

<file path=ppt/tags/tag66.xml><?xml version="1.0" encoding="utf-8"?>
<p:tagLst xmlns:p="http://schemas.openxmlformats.org/presentationml/2006/main">
  <p:tag name="KSO_WM_DIAGRAM_VIRTUALLY_FRAME" val="{&quot;height&quot;:263.3,&quot;left&quot;:55.35,&quot;top&quot;:91.4,&quot;width&quot;:324.25}"/>
</p:tagLst>
</file>

<file path=ppt/tags/tag67.xml><?xml version="1.0" encoding="utf-8"?>
<p:tagLst xmlns:p="http://schemas.openxmlformats.org/presentationml/2006/main">
  <p:tag name="KSO_WM_DIAGRAM_VIRTUALLY_FRAME" val="{&quot;height&quot;:263.3,&quot;left&quot;:55.35,&quot;top&quot;:91.4,&quot;width&quot;:324.25}"/>
</p:tagLst>
</file>

<file path=ppt/tags/tag68.xml><?xml version="1.0" encoding="utf-8"?>
<p:tagLst xmlns:p="http://schemas.openxmlformats.org/presentationml/2006/main">
  <p:tag name="KSO_WM_DIAGRAM_VIRTUALLY_FRAME" val="{&quot;height&quot;:263.3,&quot;left&quot;:55.35,&quot;top&quot;:91.4,&quot;width&quot;:324.25}"/>
</p:tagLst>
</file>

<file path=ppt/tags/tag69.xml><?xml version="1.0" encoding="utf-8"?>
<p:tagLst xmlns:p="http://schemas.openxmlformats.org/presentationml/2006/main">
  <p:tag name="KSO_WM_DIAGRAM_VIRTUALLY_FRAME" val="{&quot;height&quot;:263.3,&quot;left&quot;:55.35,&quot;top&quot;:91.4,&quot;width&quot;:324.25}"/>
</p:tagLst>
</file>

<file path=ppt/tags/tag70.xml><?xml version="1.0" encoding="utf-8"?>
<p:tagLst xmlns:p="http://schemas.openxmlformats.org/presentationml/2006/main">
  <p:tag name="KSO_WM_DIAGRAM_VIRTUALLY_FRAME" val="{&quot;height&quot;:263.3,&quot;left&quot;:55.35,&quot;top&quot;:91.4,&quot;width&quot;:324.25}"/>
</p:tagLst>
</file>

<file path=ppt/tags/tag71.xml><?xml version="1.0" encoding="utf-8"?>
<p:tagLst xmlns:p="http://schemas.openxmlformats.org/presentationml/2006/main">
  <p:tag name="KSO_WM_DIAGRAM_VIRTUALLY_FRAME" val="{&quot;height&quot;:263.3,&quot;left&quot;:55.35,&quot;top&quot;:91.4,&quot;width&quot;:324.25}"/>
</p:tagLst>
</file>

<file path=ppt/tags/tag72.xml><?xml version="1.0" encoding="utf-8"?>
<p:tagLst xmlns:p="http://schemas.openxmlformats.org/presentationml/2006/main">
  <p:tag name="KSO_WM_DIAGRAM_VIRTUALLY_FRAME" val="{&quot;height&quot;:263.3,&quot;left&quot;:55.35,&quot;top&quot;:91.4,&quot;width&quot;:324.25}"/>
</p:tagLst>
</file>

<file path=ppt/tags/tag73.xml><?xml version="1.0" encoding="utf-8"?>
<p:tagLst xmlns:p="http://schemas.openxmlformats.org/presentationml/2006/main">
  <p:tag name="KSO_WM_DIAGRAM_VIRTUALLY_FRAME" val="{&quot;height&quot;:263.3,&quot;left&quot;:55.35,&quot;top&quot;:91.4,&quot;width&quot;:324.25}"/>
</p:tagLst>
</file>

<file path=ppt/tags/tag74.xml><?xml version="1.0" encoding="utf-8"?>
<p:tagLst xmlns:p="http://schemas.openxmlformats.org/presentationml/2006/main">
  <p:tag name="KSO_WM_DIAGRAM_VIRTUALLY_FRAME" val="{&quot;height&quot;:263.3,&quot;left&quot;:55.35,&quot;top&quot;:91.4,&quot;width&quot;:324.25}"/>
</p:tagLst>
</file>

<file path=ppt/tags/tag75.xml><?xml version="1.0" encoding="utf-8"?>
<p:tagLst xmlns:p="http://schemas.openxmlformats.org/presentationml/2006/main">
  <p:tag name="KSO_WM_DIAGRAM_VIRTUALLY_FRAME" val="{&quot;height&quot;:263.3,&quot;left&quot;:55.35,&quot;top&quot;:91.4,&quot;width&quot;:324.25}"/>
</p:tagLst>
</file>

<file path=ppt/tags/tag76.xml><?xml version="1.0" encoding="utf-8"?>
<p:tagLst xmlns:p="http://schemas.openxmlformats.org/presentationml/2006/main">
  <p:tag name="KSO_WM_DIAGRAM_VIRTUALLY_FRAME" val="{&quot;height&quot;:263.3,&quot;left&quot;:55.35,&quot;top&quot;:91.4,&quot;width&quot;:324.25}"/>
</p:tagLst>
</file>

<file path=ppt/tags/tag77.xml><?xml version="1.0" encoding="utf-8"?>
<p:tagLst xmlns:p="http://schemas.openxmlformats.org/presentationml/2006/main">
  <p:tag name="KSO_WM_DIAGRAM_VIRTUALLY_FRAME" val="{&quot;height&quot;:263.3,&quot;left&quot;:55.35,&quot;top&quot;:91.4,&quot;width&quot;:324.25}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491</Words>
  <Application>WPS 演示</Application>
  <PresentationFormat>宽屏</PresentationFormat>
  <Paragraphs>113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袁荣礼</cp:lastModifiedBy>
  <cp:revision>164</cp:revision>
  <dcterms:created xsi:type="dcterms:W3CDTF">2019-06-19T02:08:00Z</dcterms:created>
  <dcterms:modified xsi:type="dcterms:W3CDTF">2025-10-21T06:53:32Z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F2C637B402A24263A270C9C038BBE236_11</vt:lpwstr>
  </property>
</Properties>
</file>